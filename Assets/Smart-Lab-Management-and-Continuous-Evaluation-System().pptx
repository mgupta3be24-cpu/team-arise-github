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ost Grotesk Light"/>
      <p:regular r:id="rId201314"/>
    </p:embeddedFont>
    <p:embeddedFont>
      <p:font typeface="Host Grotesk"/>
      <p:regular r:id="rId201315"/>
    </p:embeddedFont>
    <p:embeddedFont>
      <p:font typeface="Host Grotesk Medium"/>
      <p:regular r:id="rId201316"/>
    </p:embeddedFont>
    <p:embeddedFont>
      <p:font typeface="Host Grotesk Bold"/>
      <p:regular r:id="rId201317"/>
    </p:embeddedFont>
    <p:embeddedFont>
      <p:font typeface="IBM Plex Mono"/>
      <p:regular r:id="rId201318"/>
    </p:embeddedFont>
    <p:embeddedFont>
      <p:font typeface="IBM Plex Mono Bold"/>
      <p:regular r:id="rId201319"/>
    </p:embeddedFont>
    <p:embeddedFont>
      <p:font typeface="Space Grotesk"/>
      <p:regular r:id="rId201320"/>
    </p:embeddedFont>
    <p:embeddedFont>
      <p:font typeface="Space Grotesk SemiBold"/>
      <p:regular r:id="rId201321"/>
    </p:embeddedFont>
    <p:embeddedFont>
      <p:font typeface="Space Grotesk Bold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Team Arise and frame the project as a centralized digital platform for laboratory management and academic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current problem is fragmentation: information exists, but it is distributed across tools and repeated manual processes.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teacher as the point of coordination, with the system connecting every academic record in one workspace.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separation between the teacher-facing Flutter application, application structure, Firebase services, and Cloud Firestore persistence.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modules as one connected teacher workspace, rather than as separate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value of Excel import is capability, not process: structured information can be brought into the system once and managed centrally.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sample academic record to show how participation, marks, and feedback can be reviewed together without implying that attendance automatically determines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model conceptual: groups contain teams, teams contain students, activities connect to attendance, and evaluation stores score and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current system remains teacher-centric and that student interaction, advanced analytics, and automation are future enhancements rather than implemented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separating the current centralized system from future integrations. The project provides a foundation that can support the listed extensions without presenting them as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09600"/>
            <a:ext cx="6705432" cy="180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71" kern="100" dirty="0">
                <a:solidFill>
                  <a:srgbClr val="FFFFFF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SOFTWARE ENGINEERING PROJECT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09585" y="944761"/>
            <a:ext cx="2009526" cy="289123"/>
          </a:xfrm>
          <a:prstGeom prst="roundRect">
            <a:avLst>
              <a:gd name="adj" fmla="val 7505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8028" y="998934"/>
            <a:ext cx="2402224" cy="180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23" kern="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 OVERVIEW / 01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09585" y="1528465"/>
            <a:ext cx="6095848" cy="2700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300" spc="-106" kern="100" dirty="0">
                <a:solidFill>
                  <a:srgbClr val="FFFFFF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Smart Lab Management &amp; Continuous Evaluation System</a:t>
            </a:r>
            <a:endParaRPr lang="en-US" sz="5300" dirty="0"/>
          </a:p>
        </p:txBody>
      </p:sp>
      <p:sp>
        <p:nvSpPr>
          <p:cNvPr id="7" name="Text 5"/>
          <p:cNvSpPr/>
          <p:nvPr/>
        </p:nvSpPr>
        <p:spPr>
          <a:xfrm>
            <a:off x="609585" y="4400352"/>
            <a:ext cx="6095848" cy="49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centralized digital platform for laboratory management and academic evaluation.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585" y="5047853"/>
            <a:ext cx="1930352" cy="1469231"/>
          </a:xfrm>
          <a:prstGeom prst="rect">
            <a:avLst/>
          </a:prstGeom>
          <a:solidFill>
            <a:srgbClr val="111C2E"/>
          </a:solidFill>
          <a:ln/>
        </p:spPr>
      </p:sp>
      <p:sp>
        <p:nvSpPr>
          <p:cNvPr id="9" name="Text 7"/>
          <p:cNvSpPr/>
          <p:nvPr/>
        </p:nvSpPr>
        <p:spPr>
          <a:xfrm>
            <a:off x="838179" y="5276453"/>
            <a:ext cx="1701757" cy="17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7E2F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LAB HUB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8179" y="5548809"/>
            <a:ext cx="1473163" cy="49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D7E2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Students · Teams · Groups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92333" y="5047853"/>
            <a:ext cx="1930352" cy="1469231"/>
          </a:xfrm>
          <a:prstGeom prst="rect">
            <a:avLst/>
          </a:prstGeom>
          <a:solidFill>
            <a:srgbClr val="111C2E"/>
          </a:solidFill>
          <a:ln/>
        </p:spPr>
      </p:sp>
      <p:sp>
        <p:nvSpPr>
          <p:cNvPr id="12" name="Text 10"/>
          <p:cNvSpPr/>
          <p:nvPr/>
        </p:nvSpPr>
        <p:spPr>
          <a:xfrm>
            <a:off x="2920927" y="5276453"/>
            <a:ext cx="1701757" cy="17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7E2F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ACADEMIC RECORDS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20927" y="5548809"/>
            <a:ext cx="1473163" cy="739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D7E2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Attendance · Marks · Feedback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75081" y="5047853"/>
            <a:ext cx="1930352" cy="1469231"/>
          </a:xfrm>
          <a:prstGeom prst="rect">
            <a:avLst/>
          </a:prstGeom>
          <a:solidFill>
            <a:srgbClr val="111C2E"/>
          </a:solidFill>
          <a:ln/>
        </p:spPr>
      </p:sp>
      <p:sp>
        <p:nvSpPr>
          <p:cNvPr id="15" name="Text 13"/>
          <p:cNvSpPr/>
          <p:nvPr/>
        </p:nvSpPr>
        <p:spPr>
          <a:xfrm>
            <a:off x="5003675" y="5276453"/>
            <a:ext cx="1701757" cy="17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7E2F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DATA SETUP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03675" y="5548809"/>
            <a:ext cx="1473163" cy="49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D7E2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Excel import · Reports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9585" y="6671469"/>
            <a:ext cx="6705432" cy="18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Team Arise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· Madhav Gupta · Pratham Verma · Dishant Kumar</a:t>
            </a:r>
            <a:endParaRPr lang="en-US" sz="11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308667" y="0"/>
            <a:ext cx="12700" cy="6858000"/>
          </a:xfrm>
          <a:prstGeom prst="rect">
            <a:avLst/>
          </a:prstGeom>
          <a:solidFill>
            <a:srgbClr val="263A5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88492"/>
            <a:ext cx="426709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spc="75" kern="100" dirty="0">
                <a:solidFill>
                  <a:srgbClr val="60A5FA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CURRENT PROBLEM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609585" y="2106017"/>
            <a:ext cx="2307274" cy="304800"/>
          </a:xfrm>
          <a:prstGeom prst="roundRect">
            <a:avLst>
              <a:gd name="adj" fmla="val 7500"/>
            </a:avLst>
          </a:prstGeom>
          <a:noFill/>
          <a:ln w="6350">
            <a:solidFill>
              <a:srgbClr val="D7E2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3882" y="2163167"/>
            <a:ext cx="26882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24" kern="100" dirty="0">
                <a:solidFill>
                  <a:srgbClr val="D7E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 DIAGNOSTIC /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585" y="2487017"/>
            <a:ext cx="3657509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100" dirty="0">
                <a:solidFill>
                  <a:srgbClr val="F4F7FB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The Cost of Fragmented Records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09585" y="3459758"/>
            <a:ext cx="3657509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Manual processes scatter student, team, group, attendance, activity, marks, feedback, and report records across spreadsheets and physical registers.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9585" y="4964708"/>
            <a:ext cx="3346664" cy="304800"/>
          </a:xfrm>
          <a:prstGeom prst="roundRect">
            <a:avLst>
              <a:gd name="adj" fmla="val 7500"/>
            </a:avLst>
          </a:prstGeom>
          <a:solidFill>
            <a:srgbClr val="031E49"/>
          </a:solidFill>
          <a:ln/>
        </p:spPr>
      </p:sp>
      <p:sp>
        <p:nvSpPr>
          <p:cNvPr id="8" name="Text 6"/>
          <p:cNvSpPr/>
          <p:nvPr/>
        </p:nvSpPr>
        <p:spPr>
          <a:xfrm>
            <a:off x="723882" y="5021858"/>
            <a:ext cx="372765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24" kern="100" dirty="0">
                <a:solidFill>
                  <a:srgbClr val="D7E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 STUDENT · MANY RECORD SOURCES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76678" y="0"/>
            <a:ext cx="7315017" cy="6858000"/>
          </a:xfrm>
          <a:prstGeom prst="rect">
            <a:avLst/>
          </a:prstGeom>
          <a:solidFill>
            <a:srgbClr val="111C2E"/>
          </a:solidFill>
          <a:ln/>
        </p:spPr>
      </p:sp>
      <p:sp>
        <p:nvSpPr>
          <p:cNvPr id="10" name="Text 8"/>
          <p:cNvSpPr/>
          <p:nvPr/>
        </p:nvSpPr>
        <p:spPr>
          <a:xfrm>
            <a:off x="5714857" y="838200"/>
            <a:ext cx="81724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3B82F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14857" y="1104900"/>
            <a:ext cx="2209745" cy="190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714857" y="1560513"/>
            <a:ext cx="220974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Record sources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14857" y="1925637"/>
            <a:ext cx="220974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Spreadsheets and physical registers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3771" y="838200"/>
            <a:ext cx="84621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3B82F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3771" y="1104900"/>
            <a:ext cx="2209745" cy="190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3771" y="1427163"/>
            <a:ext cx="220974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Repeated entry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3771" y="1792287"/>
            <a:ext cx="220974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Duplication across student and team records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714857" y="4038600"/>
            <a:ext cx="84829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3B82F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714857" y="4305300"/>
            <a:ext cx="2209745" cy="190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5714857" y="4627563"/>
            <a:ext cx="220974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Separate evaluation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714857" y="4992687"/>
            <a:ext cx="220974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Attendance, marks, feedback, and activities stay apart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3771" y="4038600"/>
            <a:ext cx="8532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3B82F6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143771" y="4305300"/>
            <a:ext cx="2209745" cy="190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9143771" y="4400550"/>
            <a:ext cx="22097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Fragmented manual management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3771" y="4994275"/>
            <a:ext cx="220974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Historical access is difficult and report preparation increases error risk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870328" y="0"/>
            <a:ext cx="12700" cy="6858000"/>
          </a:xfrm>
          <a:prstGeom prst="rect">
            <a:avLst/>
          </a:prstGeom>
          <a:solidFill>
            <a:srgbClr val="263A55"/>
          </a:solidFill>
          <a:ln/>
        </p:spPr>
      </p:sp>
      <p:sp>
        <p:nvSpPr>
          <p:cNvPr id="27" name="Shape 25"/>
          <p:cNvSpPr/>
          <p:nvPr/>
        </p:nvSpPr>
        <p:spPr>
          <a:xfrm>
            <a:off x="8527837" y="228600"/>
            <a:ext cx="12700" cy="3200400"/>
          </a:xfrm>
          <a:prstGeom prst="rect">
            <a:avLst/>
          </a:prstGeom>
          <a:solidFill>
            <a:srgbClr val="263A55"/>
          </a:solidFill>
          <a:ln/>
        </p:spPr>
      </p:sp>
      <p:sp>
        <p:nvSpPr>
          <p:cNvPr id="28" name="Shape 26"/>
          <p:cNvSpPr/>
          <p:nvPr/>
        </p:nvSpPr>
        <p:spPr>
          <a:xfrm>
            <a:off x="5105272" y="3422650"/>
            <a:ext cx="3428914" cy="12700"/>
          </a:xfrm>
          <a:prstGeom prst="rect">
            <a:avLst/>
          </a:prstGeom>
          <a:solidFill>
            <a:srgbClr val="263A55"/>
          </a:solidFill>
          <a:ln/>
        </p:spPr>
      </p:sp>
      <p:sp>
        <p:nvSpPr>
          <p:cNvPr id="29" name="Shape 27"/>
          <p:cNvSpPr/>
          <p:nvPr/>
        </p:nvSpPr>
        <p:spPr>
          <a:xfrm>
            <a:off x="8527837" y="3429000"/>
            <a:ext cx="12700" cy="3200400"/>
          </a:xfrm>
          <a:prstGeom prst="rect">
            <a:avLst/>
          </a:prstGeom>
          <a:solidFill>
            <a:srgbClr val="263A55"/>
          </a:solidFill>
          <a:ln/>
        </p:spPr>
      </p:sp>
      <p:sp>
        <p:nvSpPr>
          <p:cNvPr id="30" name="Shape 28"/>
          <p:cNvSpPr/>
          <p:nvPr/>
        </p:nvSpPr>
        <p:spPr>
          <a:xfrm>
            <a:off x="8534187" y="3422650"/>
            <a:ext cx="3428914" cy="12700"/>
          </a:xfrm>
          <a:prstGeom prst="rect">
            <a:avLst/>
          </a:prstGeom>
          <a:solidFill>
            <a:srgbClr val="263A55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09600"/>
            <a:ext cx="345431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spc="75" kern="100" dirty="0">
                <a:solidFill>
                  <a:srgbClr val="FFFFFF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PROPOSED PLATFORM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09585" y="1150938"/>
            <a:ext cx="2118367" cy="304800"/>
          </a:xfrm>
          <a:prstGeom prst="roundRect">
            <a:avLst>
              <a:gd name="adj" fmla="val 7500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3882" y="1208088"/>
            <a:ext cx="249935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24" kern="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 SURFACE / 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585" y="1531938"/>
            <a:ext cx="2844729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1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One Workspace for Lab Management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9585" y="2895798"/>
            <a:ext cx="2844729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system brings students, teams, groups, activities, attendance, evaluation, marks, feedback, and reports into one organized workspace.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585" y="4407098"/>
            <a:ext cx="2844729" cy="495300"/>
          </a:xfrm>
          <a:prstGeom prst="roundRect">
            <a:avLst>
              <a:gd name="adj" fmla="val 4615"/>
            </a:avLst>
          </a:prstGeom>
          <a:solidFill>
            <a:srgbClr val="031E49"/>
          </a:solidFill>
          <a:ln/>
        </p:spPr>
      </p:sp>
      <p:sp>
        <p:nvSpPr>
          <p:cNvPr id="9" name="Text 7"/>
          <p:cNvSpPr/>
          <p:nvPr/>
        </p:nvSpPr>
        <p:spPr>
          <a:xfrm>
            <a:off x="723882" y="4464248"/>
            <a:ext cx="261613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24" kern="100" dirty="0">
                <a:solidFill>
                  <a:srgbClr val="D7E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CENTRALIZED ACADEMIC RECORDS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63898" y="0"/>
            <a:ext cx="8127797" cy="6858000"/>
          </a:xfrm>
          <a:prstGeom prst="rect">
            <a:avLst/>
          </a:prstGeom>
          <a:solidFill>
            <a:srgbClr val="111C2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483" y="609600"/>
            <a:ext cx="6773098" cy="380990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057548" y="0"/>
            <a:ext cx="12700" cy="6858000"/>
          </a:xfrm>
          <a:prstGeom prst="rect">
            <a:avLst/>
          </a:prstGeom>
          <a:solidFill>
            <a:srgbClr val="263A55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09600"/>
            <a:ext cx="304792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spc="75" kern="100" dirty="0">
                <a:solidFill>
                  <a:srgbClr val="FFFFFF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09585" y="1150938"/>
            <a:ext cx="1834906" cy="304800"/>
          </a:xfrm>
          <a:prstGeom prst="roundRect">
            <a:avLst>
              <a:gd name="adj" fmla="val 7500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3882" y="1208088"/>
            <a:ext cx="221589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24" kern="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ARCHITECTURE / 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585" y="1531938"/>
            <a:ext cx="2438339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1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Architecture &amp; Technology Stack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9585" y="2895798"/>
            <a:ext cx="2438339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application separates the teacher-facing experience from services and centralized persistence.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585" y="5753100"/>
            <a:ext cx="2438339" cy="495300"/>
          </a:xfrm>
          <a:prstGeom prst="roundRect">
            <a:avLst>
              <a:gd name="adj" fmla="val 4615"/>
            </a:avLst>
          </a:prstGeom>
          <a:solidFill>
            <a:srgbClr val="031E49"/>
          </a:solidFill>
          <a:ln/>
        </p:spPr>
      </p:sp>
      <p:sp>
        <p:nvSpPr>
          <p:cNvPr id="9" name="Text 7"/>
          <p:cNvSpPr/>
          <p:nvPr/>
        </p:nvSpPr>
        <p:spPr>
          <a:xfrm>
            <a:off x="723882" y="5810250"/>
            <a:ext cx="22097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24" kern="100" dirty="0">
                <a:solidFill>
                  <a:srgbClr val="D7E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TEACHER UI → SERVICES → FIRESTORE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509" y="0"/>
            <a:ext cx="8534187" cy="6858000"/>
          </a:xfrm>
          <a:prstGeom prst="rect">
            <a:avLst/>
          </a:prstGeom>
          <a:solidFill>
            <a:srgbClr val="111C2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093" y="609600"/>
            <a:ext cx="6773098" cy="380990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651159" y="0"/>
            <a:ext cx="12700" cy="6858000"/>
          </a:xfrm>
          <a:prstGeom prst="rect">
            <a:avLst/>
          </a:prstGeom>
          <a:solidFill>
            <a:srgbClr val="263A55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51119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09600"/>
            <a:ext cx="26415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spc="75" kern="100" dirty="0">
                <a:solidFill>
                  <a:srgbClr val="FFFFFF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CURRENT SYSTEM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09585" y="1150938"/>
            <a:ext cx="1645899" cy="304800"/>
          </a:xfrm>
          <a:prstGeom prst="roundRect">
            <a:avLst>
              <a:gd name="adj" fmla="val 7500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3882" y="1208088"/>
            <a:ext cx="202688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24" kern="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MAP / 05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585" y="1531938"/>
            <a:ext cx="2031949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1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Core Functional Modules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09585" y="5753100"/>
            <a:ext cx="2031949" cy="495300"/>
          </a:xfrm>
          <a:prstGeom prst="roundRect">
            <a:avLst>
              <a:gd name="adj" fmla="val 4615"/>
            </a:avLst>
          </a:prstGeom>
          <a:solidFill>
            <a:srgbClr val="031E49"/>
          </a:solidFill>
          <a:ln/>
        </p:spPr>
      </p:sp>
      <p:sp>
        <p:nvSpPr>
          <p:cNvPr id="8" name="Text 6"/>
          <p:cNvSpPr/>
          <p:nvPr/>
        </p:nvSpPr>
        <p:spPr>
          <a:xfrm>
            <a:off x="723882" y="5810250"/>
            <a:ext cx="18033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24" kern="100" dirty="0">
                <a:solidFill>
                  <a:srgbClr val="D7E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 CONNECTED TEACHER WORKSPACE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51119" y="0"/>
            <a:ext cx="8940576" cy="6858000"/>
          </a:xfrm>
          <a:prstGeom prst="rect">
            <a:avLst/>
          </a:prstGeom>
          <a:solidFill>
            <a:srgbClr val="111C2E"/>
          </a:solidFill>
          <a:ln/>
        </p:spPr>
      </p:sp>
      <p:sp>
        <p:nvSpPr>
          <p:cNvPr id="10" name="Shape 8"/>
          <p:cNvSpPr/>
          <p:nvPr/>
        </p:nvSpPr>
        <p:spPr>
          <a:xfrm>
            <a:off x="3860703" y="895350"/>
            <a:ext cx="2421373" cy="2187575"/>
          </a:xfrm>
          <a:prstGeom prst="roundRect">
            <a:avLst>
              <a:gd name="adj" fmla="val 1306"/>
            </a:avLst>
          </a:prstGeom>
          <a:solidFill>
            <a:srgbClr val="111C2E"/>
          </a:solidFill>
          <a:ln w="25399">
            <a:solidFill>
              <a:srgbClr val="1F4B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697" y="1435100"/>
            <a:ext cx="19133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697" y="1800225"/>
            <a:ext cx="216737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Laboratory overview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6869" y="895350"/>
            <a:ext cx="2268977" cy="2187575"/>
          </a:xfrm>
          <a:prstGeom prst="roundRect">
            <a:avLst>
              <a:gd name="adj" fmla="val 1306"/>
            </a:avLst>
          </a:prstGeom>
          <a:solidFill>
            <a:srgbClr val="111C2E"/>
          </a:solidFill>
          <a:ln w="25399">
            <a:solidFill>
              <a:srgbClr val="1F4B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40862" y="1435100"/>
            <a:ext cx="1760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Students / Teams / Groups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40862" y="2028825"/>
            <a:ext cx="176099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Structured academic organization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60638" y="895350"/>
            <a:ext cx="2421373" cy="2187575"/>
          </a:xfrm>
          <a:prstGeom prst="roundRect">
            <a:avLst>
              <a:gd name="adj" fmla="val 1306"/>
            </a:avLst>
          </a:prstGeom>
          <a:solidFill>
            <a:srgbClr val="111C2E"/>
          </a:solidFill>
          <a:ln w="25399">
            <a:solidFill>
              <a:srgbClr val="1F4B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4632" y="1435100"/>
            <a:ext cx="19133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Lab Activities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414632" y="1800225"/>
            <a:ext cx="191338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Manage practical work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860703" y="3673475"/>
            <a:ext cx="2421373" cy="2187575"/>
          </a:xfrm>
          <a:prstGeom prst="roundRect">
            <a:avLst>
              <a:gd name="adj" fmla="val 1306"/>
            </a:avLst>
          </a:prstGeom>
          <a:solidFill>
            <a:srgbClr val="111C2E"/>
          </a:solidFill>
          <a:ln w="25399">
            <a:solidFill>
              <a:srgbClr val="1F4B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697" y="4213225"/>
            <a:ext cx="19133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Attendance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14697" y="4578350"/>
            <a:ext cx="216737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Record participation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86869" y="3673475"/>
            <a:ext cx="2268977" cy="2187575"/>
          </a:xfrm>
          <a:prstGeom prst="roundRect">
            <a:avLst>
              <a:gd name="adj" fmla="val 1306"/>
            </a:avLst>
          </a:prstGeom>
          <a:solidFill>
            <a:srgbClr val="111C2E"/>
          </a:solidFill>
          <a:ln w="25399">
            <a:solidFill>
              <a:srgbClr val="1F4B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40862" y="4213225"/>
            <a:ext cx="1760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Continuous Evaluation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40862" y="4806950"/>
            <a:ext cx="176099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Marks and feedback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160638" y="3673475"/>
            <a:ext cx="2421373" cy="2187575"/>
          </a:xfrm>
          <a:prstGeom prst="roundRect">
            <a:avLst>
              <a:gd name="adj" fmla="val 1306"/>
            </a:avLst>
          </a:prstGeom>
          <a:solidFill>
            <a:srgbClr val="111C2E"/>
          </a:solidFill>
          <a:ln w="25399">
            <a:solidFill>
              <a:srgbClr val="1F4B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4632" y="4213225"/>
            <a:ext cx="1913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Reports / Excel Import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14632" y="4806950"/>
            <a:ext cx="191338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Consolidated information and faster onboarding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860703" y="6032500"/>
            <a:ext cx="833099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7E2F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Teacher moves from overview to records without switching between separate tools.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44769" y="0"/>
            <a:ext cx="12700" cy="6858000"/>
          </a:xfrm>
          <a:prstGeom prst="rect">
            <a:avLst/>
          </a:prstGeom>
          <a:solidFill>
            <a:srgbClr val="263A55"/>
          </a:solidFill>
          <a:ln/>
        </p:spPr>
      </p:sp>
      <p:sp>
        <p:nvSpPr>
          <p:cNvPr id="30" name="Shape 28"/>
          <p:cNvSpPr/>
          <p:nvPr/>
        </p:nvSpPr>
        <p:spPr>
          <a:xfrm>
            <a:off x="4785597" y="635000"/>
            <a:ext cx="571486" cy="5715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8469" y="777875"/>
            <a:ext cx="285743" cy="28575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7435565" y="635000"/>
            <a:ext cx="571486" cy="5715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436" y="777875"/>
            <a:ext cx="285743" cy="285750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10085532" y="635000"/>
            <a:ext cx="571486" cy="5715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8403" y="777875"/>
            <a:ext cx="285743" cy="285750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4785597" y="3413125"/>
            <a:ext cx="571486" cy="5715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469" y="3556000"/>
            <a:ext cx="285743" cy="285750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7435565" y="3413125"/>
            <a:ext cx="571486" cy="5715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8436" y="3556000"/>
            <a:ext cx="285743" cy="285750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10085532" y="3413125"/>
            <a:ext cx="571486" cy="5715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8403" y="3556000"/>
            <a:ext cx="285743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09600"/>
            <a:ext cx="304792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spc="75" kern="100" dirty="0">
                <a:solidFill>
                  <a:srgbClr val="FFFFFF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DATA SETUP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09585" y="1127125"/>
            <a:ext cx="2023913" cy="304800"/>
          </a:xfrm>
          <a:prstGeom prst="roundRect">
            <a:avLst>
              <a:gd name="adj" fmla="val 7500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3882" y="1184275"/>
            <a:ext cx="240490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24" kern="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INGESTION FLOW / 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585" y="1508125"/>
            <a:ext cx="2438339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1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Excel Import Simplifies Data Setup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9585" y="2871986"/>
            <a:ext cx="2438339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teacher uploads structured student and team data instead of entering every record manually.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585" y="4376936"/>
            <a:ext cx="2438339" cy="495300"/>
          </a:xfrm>
          <a:prstGeom prst="roundRect">
            <a:avLst>
              <a:gd name="adj" fmla="val 4615"/>
            </a:avLst>
          </a:prstGeom>
          <a:solidFill>
            <a:srgbClr val="031E49"/>
          </a:solidFill>
          <a:ln/>
        </p:spPr>
      </p:sp>
      <p:sp>
        <p:nvSpPr>
          <p:cNvPr id="9" name="Text 7"/>
          <p:cNvSpPr/>
          <p:nvPr/>
        </p:nvSpPr>
        <p:spPr>
          <a:xfrm>
            <a:off x="723882" y="4434086"/>
            <a:ext cx="22097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24" kern="100" dirty="0">
                <a:solidFill>
                  <a:srgbClr val="D7E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IMPORT ONCE, MANAGE CENTRALLY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509" y="0"/>
            <a:ext cx="8534187" cy="6858000"/>
          </a:xfrm>
          <a:prstGeom prst="rect">
            <a:avLst/>
          </a:prstGeom>
          <a:solidFill>
            <a:srgbClr val="111C2E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67093" y="609600"/>
          <a:ext cx="7315017" cy="914400"/>
        </p:xfrm>
        <a:graphic>
          <a:graphicData uri="http://schemas.openxmlformats.org/drawingml/2006/table">
            <a:tbl>
              <a:tblPr/>
              <a:tblGrid>
                <a:gridCol w="1463003"/>
                <a:gridCol w="1463003"/>
                <a:gridCol w="1463003"/>
                <a:gridCol w="1463003"/>
                <a:gridCol w="1463003"/>
              </a:tblGrid>
              <a:tr h="4190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7E2F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Roll Number</a:t>
                      </a:r>
                      <a:endParaRPr lang="en-US" sz="15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7E2F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Name</a:t>
                      </a:r>
                      <a:endParaRPr lang="en-US" sz="15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7E2F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Email</a:t>
                      </a:r>
                      <a:endParaRPr lang="en-US" sz="15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7E2F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Team Name</a:t>
                      </a:r>
                      <a:endParaRPr lang="en-US" sz="15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7E2F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Group</a:t>
                      </a:r>
                      <a:endParaRPr lang="en-US" sz="15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267093" y="1212850"/>
            <a:ext cx="3505112" cy="5035550"/>
          </a:xfrm>
          <a:prstGeom prst="roundRect">
            <a:avLst>
              <a:gd name="adj" fmla="val 815"/>
            </a:avLst>
          </a:prstGeom>
          <a:solidFill>
            <a:srgbClr val="111C2E"/>
          </a:solidFill>
          <a:ln w="25399">
            <a:solidFill>
              <a:srgbClr val="1F4B93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1087" y="1466850"/>
            <a:ext cx="380990" cy="3810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1087" y="1958975"/>
            <a:ext cx="29971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Structured upload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21087" y="2324100"/>
            <a:ext cx="299712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application uses Roll Number, Name, Email, Team Name, and Group to organize the corresponding information.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076998" y="1212850"/>
            <a:ext cx="3505112" cy="5035550"/>
          </a:xfrm>
          <a:prstGeom prst="roundRect">
            <a:avLst>
              <a:gd name="adj" fmla="val 815"/>
            </a:avLst>
          </a:prstGeom>
          <a:solidFill>
            <a:srgbClr val="111C2E"/>
          </a:solidFill>
          <a:ln w="25399">
            <a:solidFill>
              <a:srgbClr val="1F4B93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0992" y="1466850"/>
            <a:ext cx="380990" cy="3810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0992" y="1958975"/>
            <a:ext cx="13461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Organized records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30992" y="2552700"/>
            <a:ext cx="1346166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Student, team, and group information enters the corresponding records.</a:t>
            </a:r>
            <a:endParaRPr lang="en-US" sz="15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1950" y="1466850"/>
            <a:ext cx="380990" cy="3810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981950" y="1958975"/>
            <a:ext cx="13461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Central management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981950" y="2552700"/>
            <a:ext cx="1346166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Faster onboarding, less repetitive data entry, and reduced opportunity for manual entry mistakes.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3651159" y="0"/>
            <a:ext cx="12700" cy="6858000"/>
          </a:xfrm>
          <a:prstGeom prst="rect">
            <a:avLst/>
          </a:prstGeom>
          <a:solidFill>
            <a:srgbClr val="263A55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51119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09600"/>
            <a:ext cx="2641534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73" kern="100" dirty="0">
                <a:solidFill>
                  <a:srgbClr val="FFFFFF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ACADEMIC RECORDS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09585" y="1101130"/>
            <a:ext cx="2031949" cy="479822"/>
          </a:xfrm>
          <a:prstGeom prst="roundRect">
            <a:avLst>
              <a:gd name="adj" fmla="val 4616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310" y="1156494"/>
            <a:ext cx="1810498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23" kern="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RECORD VIEW / 07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09585" y="1652389"/>
            <a:ext cx="2031949" cy="1137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700" spc="-27" kern="1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Attendance &amp; Evaluation Records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9585" y="2968228"/>
            <a:ext cx="2031949" cy="2034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Once students and activities are organized, teachers can record participation, marks, and feedback in the same academic workspace.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585" y="5163542"/>
            <a:ext cx="2031949" cy="479822"/>
          </a:xfrm>
          <a:prstGeom prst="roundRect">
            <a:avLst>
              <a:gd name="adj" fmla="val 4616"/>
            </a:avLst>
          </a:prstGeom>
          <a:solidFill>
            <a:srgbClr val="031E49"/>
          </a:solidFill>
          <a:ln/>
        </p:spPr>
      </p:sp>
      <p:sp>
        <p:nvSpPr>
          <p:cNvPr id="9" name="Text 7"/>
          <p:cNvSpPr/>
          <p:nvPr/>
        </p:nvSpPr>
        <p:spPr>
          <a:xfrm>
            <a:off x="720310" y="5218906"/>
            <a:ext cx="1810498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23" kern="100" dirty="0">
                <a:solidFill>
                  <a:srgbClr val="D7E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LINKED ACADEMIC RECORD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9585" y="5804297"/>
            <a:ext cx="2031949" cy="1055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Attendance history stays linked to laboratory participation. Marks and feedback stay linked to activities. Attendance is not presented as automatically determining marks.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51119" y="0"/>
            <a:ext cx="8940576" cy="6858000"/>
          </a:xfrm>
          <a:prstGeom prst="rect">
            <a:avLst/>
          </a:prstGeom>
          <a:solidFill>
            <a:srgbClr val="111C2E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60703" y="609600"/>
          <a:ext cx="7721407" cy="914400"/>
        </p:xfrm>
        <a:graphic>
          <a:graphicData uri="http://schemas.openxmlformats.org/drawingml/2006/table">
            <a:tbl>
              <a:tblPr/>
              <a:tblGrid>
                <a:gridCol w="1698682"/>
                <a:gridCol w="1775872"/>
                <a:gridCol w="1389822"/>
                <a:gridCol w="1158152"/>
                <a:gridCol w="1698880"/>
              </a:tblGrid>
              <a:tr h="4082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7E2F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Student</a:t>
                      </a:r>
                      <a:endParaRPr lang="en-US" sz="14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38428" marR="138428" marT="73828" marB="73828" anchor="ctr">
                    <a:lnL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7E2F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Activity</a:t>
                      </a:r>
                      <a:endParaRPr lang="en-US" sz="14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38428" marR="138428" marT="73828" marB="73828" anchor="ctr">
                    <a:lnL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7E2F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Attendance</a:t>
                      </a:r>
                      <a:endParaRPr lang="en-US" sz="14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38428" marR="138428" marT="73828" marB="73828" anchor="ctr">
                    <a:lnL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7E2F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Marks</a:t>
                      </a:r>
                      <a:endParaRPr lang="en-US" sz="14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38428" marR="138428" marT="73828" marB="73828" anchor="ctr">
                    <a:lnL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7E2F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Feedback</a:t>
                      </a:r>
                      <a:endParaRPr lang="en-US" sz="14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38428" marR="138428" marT="73828" marB="73828" anchor="ctr">
                    <a:lnL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</a:tr>
              <a:tr h="4082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7E2F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Student A</a:t>
                      </a:r>
                      <a:endParaRPr lang="en-US" sz="14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38428" marR="138428" marT="73828" marB="73828" anchor="ctr">
                    <a:lnL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7E2F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Activity 01</a:t>
                      </a:r>
                      <a:endParaRPr lang="en-US" sz="14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38428" marR="138428" marT="73828" marB="73828" anchor="ctr">
                    <a:lnL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Present</a:t>
                      </a:r>
                      <a:endParaRPr lang="en-US" sz="14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38428" marR="138428" marT="73828" marB="73828" anchor="ctr">
                    <a:lnL w="12700" cap="flat" cmpd="sng" algn="ctr">
                      <a:solidFill>
                        <a:srgbClr val="D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2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7E2F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14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38428" marR="138428" marT="73828" marB="73828" anchor="ctr">
                    <a:lnL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7E2F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14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38428" marR="138428" marT="73828" marB="73828" anchor="ctr">
                    <a:lnL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</a:tr>
              <a:tr h="4082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7E2F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Student B</a:t>
                      </a:r>
                      <a:endParaRPr lang="en-US" sz="14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38428" marR="138428" marT="73828" marB="73828" anchor="ctr">
                    <a:lnL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7E2F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Activity 01</a:t>
                      </a:r>
                      <a:endParaRPr lang="en-US" sz="14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38428" marR="138428" marT="73828" marB="73828" anchor="ctr">
                    <a:lnL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Present</a:t>
                      </a:r>
                      <a:endParaRPr lang="en-US" sz="14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38428" marR="138428" marT="73828" marB="73828" anchor="ctr">
                    <a:lnL w="12700" cap="flat" cmpd="sng" algn="ctr">
                      <a:solidFill>
                        <a:srgbClr val="D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2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7E2F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14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38428" marR="138428" marT="73828" marB="73828" anchor="ctr">
                    <a:lnL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7E2F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14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38428" marR="138428" marT="73828" marB="73828" anchor="ctr">
                    <a:lnL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</a:tr>
              <a:tr h="4019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7E2F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Student C</a:t>
                      </a:r>
                      <a:endParaRPr lang="en-US" sz="14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38428" marR="138428" marT="73828" marB="73828" anchor="ctr">
                    <a:lnL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7E2F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Activity 01</a:t>
                      </a:r>
                      <a:endParaRPr lang="en-US" sz="14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38428" marR="138428" marT="73828" marB="73828" anchor="ctr">
                    <a:lnL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Absent</a:t>
                      </a:r>
                      <a:endParaRPr lang="en-US" sz="14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38428" marR="138428" marT="73828" marB="73828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7E2F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14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38428" marR="138428" marT="73828" marB="73828" anchor="ctr">
                    <a:lnL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D7E2F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—</a:t>
                      </a:r>
                      <a:endParaRPr lang="en-US" sz="14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38428" marR="138428" marT="73828" marB="73828" anchor="ctr">
                    <a:lnL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244769" y="0"/>
            <a:ext cx="12700" cy="6858000"/>
          </a:xfrm>
          <a:prstGeom prst="rect">
            <a:avLst/>
          </a:prstGeom>
          <a:solidFill>
            <a:srgbClr val="263A55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51119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09600"/>
            <a:ext cx="26415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spc="75" kern="100" dirty="0">
                <a:solidFill>
                  <a:srgbClr val="FFFFFF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DATA MODEL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09585" y="1127125"/>
            <a:ext cx="2031949" cy="495300"/>
          </a:xfrm>
          <a:prstGeom prst="roundRect">
            <a:avLst>
              <a:gd name="adj" fmla="val 4615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3882" y="1184275"/>
            <a:ext cx="18033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24" kern="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ENTITY RELATIONSHIPS / 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585" y="1698625"/>
            <a:ext cx="2031949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1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Conceptual Data Model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9585" y="2671366"/>
            <a:ext cx="203194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Cloud Firestore provides centralized persistence for application data.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585" y="3909616"/>
            <a:ext cx="2031949" cy="685800"/>
          </a:xfrm>
          <a:prstGeom prst="roundRect">
            <a:avLst>
              <a:gd name="adj" fmla="val 3333"/>
            </a:avLst>
          </a:prstGeom>
          <a:solidFill>
            <a:srgbClr val="031E49"/>
          </a:solidFill>
          <a:ln/>
        </p:spPr>
      </p:sp>
      <p:sp>
        <p:nvSpPr>
          <p:cNvPr id="9" name="Text 7"/>
          <p:cNvSpPr/>
          <p:nvPr/>
        </p:nvSpPr>
        <p:spPr>
          <a:xfrm>
            <a:off x="723882" y="3966766"/>
            <a:ext cx="180335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24" kern="100" dirty="0">
                <a:solidFill>
                  <a:srgbClr val="D7E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 → TEAM → STUDENT → ACTIVITY RECORDS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51119" y="0"/>
            <a:ext cx="8940576" cy="6858000"/>
          </a:xfrm>
          <a:prstGeom prst="rect">
            <a:avLst/>
          </a:prstGeom>
          <a:solidFill>
            <a:srgbClr val="111C2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0703" y="609600"/>
            <a:ext cx="7721407" cy="31432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860703" y="3924300"/>
            <a:ext cx="7721407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7E2F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Groups contain Teams. Teams contain Students. Lab Activities connect to Attendance. Students / Teams connect to Evaluation. Evaluation stores Score + Feedback.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44769" y="0"/>
            <a:ext cx="12700" cy="6858000"/>
          </a:xfrm>
          <a:prstGeom prst="rect">
            <a:avLst/>
          </a:prstGeom>
          <a:solidFill>
            <a:srgbClr val="263A55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51119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09600"/>
            <a:ext cx="2031949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73" kern="100" dirty="0">
                <a:solidFill>
                  <a:srgbClr val="FFFFFF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SMART LAB MANAGEMENT &amp; CONTINUOUS EVALUATION SYSTEM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09585" y="1656953"/>
            <a:ext cx="1596787" cy="295771"/>
          </a:xfrm>
          <a:prstGeom prst="roundRect">
            <a:avLst>
              <a:gd name="adj" fmla="val 7501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509" y="1712416"/>
            <a:ext cx="1984524" cy="184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23" kern="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BOUNDARIES / 09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09585" y="2024459"/>
            <a:ext cx="2031949" cy="75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700" spc="-27" kern="1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Current Limitations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251119" y="0"/>
            <a:ext cx="8940576" cy="6858000"/>
          </a:xfrm>
          <a:prstGeom prst="rect">
            <a:avLst/>
          </a:prstGeom>
          <a:solidFill>
            <a:srgbClr val="111C2E"/>
          </a:solidFill>
          <a:ln/>
        </p:spPr>
      </p:sp>
      <p:sp>
        <p:nvSpPr>
          <p:cNvPr id="8" name="Shape 6"/>
          <p:cNvSpPr/>
          <p:nvPr/>
        </p:nvSpPr>
        <p:spPr>
          <a:xfrm>
            <a:off x="3860703" y="609600"/>
            <a:ext cx="3708307" cy="1622425"/>
          </a:xfrm>
          <a:prstGeom prst="roundRect">
            <a:avLst>
              <a:gd name="adj" fmla="val 1709"/>
            </a:avLst>
          </a:prstGeom>
          <a:solidFill>
            <a:srgbClr val="111C2E"/>
          </a:solidFill>
          <a:ln w="19050">
            <a:solidFill>
              <a:srgbClr val="1F4B9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2149" y="781050"/>
            <a:ext cx="369779" cy="3697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032149" y="1255514"/>
            <a:ext cx="3365416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7E2F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Teacher-Centric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4032149" y="1635522"/>
            <a:ext cx="3365416" cy="425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2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current system primarily focuses on teacher-side management.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73803" y="609600"/>
            <a:ext cx="3708307" cy="1622425"/>
          </a:xfrm>
          <a:prstGeom prst="roundRect">
            <a:avLst>
              <a:gd name="adj" fmla="val 1709"/>
            </a:avLst>
          </a:prstGeom>
          <a:solidFill>
            <a:srgbClr val="111C2E"/>
          </a:solidFill>
          <a:ln w="19050">
            <a:solidFill>
              <a:srgbClr val="1F4B9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249" y="781050"/>
            <a:ext cx="369779" cy="3697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45249" y="1255514"/>
            <a:ext cx="3365416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7E2F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Limited Student Interaction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8045249" y="1635522"/>
            <a:ext cx="3365416" cy="425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2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dedicated student portal is not yet integrated.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860703" y="2536726"/>
            <a:ext cx="3708307" cy="1622623"/>
          </a:xfrm>
          <a:prstGeom prst="roundRect">
            <a:avLst>
              <a:gd name="adj" fmla="val 1709"/>
            </a:avLst>
          </a:prstGeom>
          <a:solidFill>
            <a:srgbClr val="111C2E"/>
          </a:solidFill>
          <a:ln w="19050">
            <a:solidFill>
              <a:srgbClr val="1F4B9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149" y="2708176"/>
            <a:ext cx="369779" cy="3697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032149" y="3182640"/>
            <a:ext cx="3365416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7E2F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Manual Attendance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4032149" y="3562648"/>
            <a:ext cx="3365416" cy="425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2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Attendance currently requires teacher-side recording.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873803" y="2536726"/>
            <a:ext cx="3708307" cy="1622623"/>
          </a:xfrm>
          <a:prstGeom prst="roundRect">
            <a:avLst>
              <a:gd name="adj" fmla="val 1709"/>
            </a:avLst>
          </a:prstGeom>
          <a:solidFill>
            <a:srgbClr val="111C2E"/>
          </a:solidFill>
          <a:ln w="19050">
            <a:solidFill>
              <a:srgbClr val="1F4B9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5249" y="2708176"/>
            <a:ext cx="369779" cy="3697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5249" y="3182640"/>
            <a:ext cx="3365416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7E2F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Limited Analytics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8045249" y="3562648"/>
            <a:ext cx="3365416" cy="425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2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Advanced performance analytics and dashboards are not yet available.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860703" y="4464050"/>
            <a:ext cx="7721407" cy="1622425"/>
          </a:xfrm>
          <a:prstGeom prst="roundRect">
            <a:avLst>
              <a:gd name="adj" fmla="val 1709"/>
            </a:avLst>
          </a:prstGeom>
          <a:solidFill>
            <a:srgbClr val="111C2E"/>
          </a:solidFill>
          <a:ln w="19050">
            <a:solidFill>
              <a:srgbClr val="1F4B93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2149" y="4635500"/>
            <a:ext cx="369779" cy="3697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032149" y="5109964"/>
            <a:ext cx="7378515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7E2F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Limited Automation</a:t>
            </a:r>
            <a:endParaRPr lang="en-US" sz="1650" dirty="0"/>
          </a:p>
        </p:txBody>
      </p:sp>
      <p:sp>
        <p:nvSpPr>
          <p:cNvPr id="27" name="Text 20"/>
          <p:cNvSpPr/>
          <p:nvPr/>
        </p:nvSpPr>
        <p:spPr>
          <a:xfrm>
            <a:off x="4032149" y="5489972"/>
            <a:ext cx="7378515" cy="425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2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Online submissions, notifications, QR attendance and AI-assisted evaluation are future enhancements.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3860703" y="6247904"/>
            <a:ext cx="4896422" cy="295771"/>
          </a:xfrm>
          <a:prstGeom prst="roundRect">
            <a:avLst>
              <a:gd name="adj" fmla="val 7501"/>
            </a:avLst>
          </a:prstGeom>
          <a:noFill/>
          <a:ln w="6350">
            <a:solidFill>
              <a:srgbClr val="D7E2F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3971627" y="6303367"/>
            <a:ext cx="5284159" cy="184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23" kern="100" dirty="0">
                <a:solidFill>
                  <a:srgbClr val="D7E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CURRENT STATE — FUTURE ENHANCEMENTS REMAIN DISTINCT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3860703" y="6705104"/>
            <a:ext cx="8330992" cy="176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7E2F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These limitations provide clear opportunities for future expansion and automation.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3244769" y="0"/>
            <a:ext cx="12700" cy="6858000"/>
          </a:xfrm>
          <a:prstGeom prst="rect">
            <a:avLst/>
          </a:prstGeom>
          <a:solidFill>
            <a:srgbClr val="263A55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09600"/>
            <a:ext cx="386070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spc="75" kern="100" dirty="0">
                <a:solidFill>
                  <a:srgbClr val="FFFFFF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NEXT HORIZON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09585" y="1150938"/>
            <a:ext cx="1929360" cy="304800"/>
          </a:xfrm>
          <a:prstGeom prst="roundRect">
            <a:avLst>
              <a:gd name="adj" fmla="val 7500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3882" y="1208088"/>
            <a:ext cx="23103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24" kern="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CLOSING STATE /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585" y="1531938"/>
            <a:ext cx="3251119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1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Future Scope &amp; Conclusion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9585" y="2504678"/>
            <a:ext cx="3251119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current system centralizes laboratory records, reduces manual effort, and provides a scalable foundation for digital laboratory management.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585" y="5276850"/>
            <a:ext cx="3251119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Team Arise</a:t>
            </a:r>
            <a:pPr algn="l" indent="0" marL="0">
              <a:lnSpc>
                <a:spcPct val="117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· Madhav Gupta · Pratham Verma · Dishant Kumar</a:t>
            </a:r>
            <a:endParaRPr lang="en-US" sz="15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3B82F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 — Questions?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70288" y="0"/>
            <a:ext cx="7721407" cy="6858000"/>
          </a:xfrm>
          <a:prstGeom prst="rect">
            <a:avLst/>
          </a:prstGeom>
          <a:solidFill>
            <a:srgbClr val="111C2E"/>
          </a:solidFill>
          <a:ln/>
        </p:spPr>
      </p:sp>
      <p:sp>
        <p:nvSpPr>
          <p:cNvPr id="10" name="Text 8"/>
          <p:cNvSpPr/>
          <p:nvPr/>
        </p:nvSpPr>
        <p:spPr>
          <a:xfrm>
            <a:off x="5079873" y="609600"/>
            <a:ext cx="650223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D7E2F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Future integrations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79873" y="1005185"/>
            <a:ext cx="3441118" cy="304800"/>
          </a:xfrm>
          <a:prstGeom prst="roundRect">
            <a:avLst>
              <a:gd name="adj" fmla="val 7500"/>
            </a:avLst>
          </a:prstGeom>
          <a:noFill/>
          <a:ln w="6350">
            <a:solidFill>
              <a:srgbClr val="D7E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170" y="1062335"/>
            <a:ext cx="38221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24" kern="100" dirty="0">
                <a:solidFill>
                  <a:srgbClr val="D7E2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FUTURE — NOT CURRENTLY IMPLEMENTED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79873" y="1481435"/>
            <a:ext cx="2065782" cy="1143000"/>
          </a:xfrm>
          <a:prstGeom prst="rect">
            <a:avLst/>
          </a:prstGeom>
          <a:solidFill>
            <a:srgbClr val="111C2E"/>
          </a:solidFill>
          <a:ln/>
        </p:spPr>
      </p:sp>
      <p:sp>
        <p:nvSpPr>
          <p:cNvPr id="14" name="Text 12"/>
          <p:cNvSpPr/>
          <p:nvPr/>
        </p:nvSpPr>
        <p:spPr>
          <a:xfrm>
            <a:off x="5308467" y="1710035"/>
            <a:ext cx="16085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Student portal and login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298051" y="1481435"/>
            <a:ext cx="2065782" cy="1143000"/>
          </a:xfrm>
          <a:prstGeom prst="rect">
            <a:avLst/>
          </a:prstGeom>
          <a:solidFill>
            <a:srgbClr val="111C2E"/>
          </a:solidFill>
          <a:ln/>
        </p:spPr>
      </p:sp>
      <p:sp>
        <p:nvSpPr>
          <p:cNvPr id="16" name="Text 14"/>
          <p:cNvSpPr/>
          <p:nvPr/>
        </p:nvSpPr>
        <p:spPr>
          <a:xfrm>
            <a:off x="7526645" y="1710035"/>
            <a:ext cx="16085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Online report/project submission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516229" y="1481435"/>
            <a:ext cx="2065881" cy="1143000"/>
          </a:xfrm>
          <a:prstGeom prst="rect">
            <a:avLst/>
          </a:prstGeom>
          <a:solidFill>
            <a:srgbClr val="111C2E"/>
          </a:solidFill>
          <a:ln/>
        </p:spPr>
      </p:sp>
      <p:sp>
        <p:nvSpPr>
          <p:cNvPr id="18" name="Text 16"/>
          <p:cNvSpPr/>
          <p:nvPr/>
        </p:nvSpPr>
        <p:spPr>
          <a:xfrm>
            <a:off x="9744823" y="1710035"/>
            <a:ext cx="160869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Cloud file storage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79873" y="2776835"/>
            <a:ext cx="3174921" cy="1143000"/>
          </a:xfrm>
          <a:prstGeom prst="rect">
            <a:avLst/>
          </a:prstGeom>
          <a:solidFill>
            <a:srgbClr val="111C2E"/>
          </a:solidFill>
          <a:ln/>
        </p:spPr>
      </p:sp>
      <p:sp>
        <p:nvSpPr>
          <p:cNvPr id="20" name="Text 18"/>
          <p:cNvSpPr/>
          <p:nvPr/>
        </p:nvSpPr>
        <p:spPr>
          <a:xfrm>
            <a:off x="5308467" y="3005435"/>
            <a:ext cx="271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Analytics dashboard and notifications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407190" y="2776835"/>
            <a:ext cx="3174921" cy="1143000"/>
          </a:xfrm>
          <a:prstGeom prst="rect">
            <a:avLst/>
          </a:prstGeom>
          <a:solidFill>
            <a:srgbClr val="111C2E"/>
          </a:solidFill>
          <a:ln/>
        </p:spPr>
      </p:sp>
      <p:sp>
        <p:nvSpPr>
          <p:cNvPr id="22" name="Text 20"/>
          <p:cNvSpPr/>
          <p:nvPr/>
        </p:nvSpPr>
        <p:spPr>
          <a:xfrm>
            <a:off x="8635784" y="3005435"/>
            <a:ext cx="27177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2F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QR attendance, role-based access, and AI-assisted evaluation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79873" y="4091285"/>
            <a:ext cx="711182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7E2F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Future integrations are distinct from the current system.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63938" y="0"/>
            <a:ext cx="12700" cy="6858000"/>
          </a:xfrm>
          <a:prstGeom prst="rect">
            <a:avLst/>
          </a:prstGeom>
          <a:solidFill>
            <a:srgbClr val="263A5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2026-10-06T10:02:48Z</dcterms:created>
  <dcterms:modified xsi:type="dcterms:W3CDTF">2026-10-06T10:02:48Z</dcterms:modified>
</cp:coreProperties>
</file>